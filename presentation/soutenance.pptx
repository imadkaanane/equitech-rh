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EquiTech — diagnostic de rémunération</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Distinguer écart brut, composition des postes et association ajustée.</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Distinguer écart brut, composition des postes et association ajustée.</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'rh', 'brut': 12050, 'doublons': 50, 'rejets': 30, 'propre': 11970}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effectif : 11970</a:t>
            </a:r>
          </a:p>
          <a:p>
            <a:pPr>
              <a:spcAft>
                <a:spcPts val="1800"/>
              </a:spcAft>
              <a:defRPr sz="2000"/>
            </a:pPr>
            <a:r>
              <a:t>ecart brut : 0.0413</a:t>
            </a:r>
          </a:p>
          <a:p>
            <a:pPr>
              <a:spcAft>
                <a:spcPts val="1800"/>
              </a:spcAft>
              <a:defRPr sz="2000"/>
            </a:pPr>
            <a:r>
              <a:t>ic95 brut bas : 0.0307</a:t>
            </a:r>
          </a:p>
          <a:p>
            <a:pPr>
              <a:spcAft>
                <a:spcPts val="1800"/>
              </a:spcAft>
              <a:defRPr sz="2000"/>
            </a:pPr>
            <a:r>
              <a:t>ic95 brut haut : 0.0519</a:t>
            </a:r>
          </a:p>
          <a:p>
            <a:pPr>
              <a:spcAft>
                <a:spcPts val="1800"/>
              </a:spcAft>
              <a:defRPr sz="2000"/>
            </a:pPr>
            <a:r>
              <a:t>ecart ajuste descriptif : 0.0359</a:t>
            </a:r>
          </a:p>
          <a:p>
            <a:pPr>
              <a:spcAft>
                <a:spcPts val="1800"/>
              </a:spcAft>
              <a:defRPr sz="2000"/>
            </a:pPr>
            <a:r>
              <a:t>ecart ajuste bas : 0.0325</a:t>
            </a:r>
          </a:p>
          <a:p>
            <a:pPr>
              <a:spcAft>
                <a:spcPts val="1800"/>
              </a:spcAft>
              <a:defRPr sz="2000"/>
            </a:pPr>
            <a:r>
              <a:t>ecart ajuste haut : 0.0393</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r2 : 0.8974</a:t>
            </a:r>
          </a:p>
          <a:p>
            <a:pPr>
              <a:spcAft>
                <a:spcPts val="1800"/>
              </a:spcAft>
              <a:defRPr sz="2000"/>
            </a:pPr>
            <a:r>
              <a:t>groupes masques : 5</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Écart brut ETP : 4.13 % ; IC bootstrap [3.07 ; 5.19] %.</a:t>
            </a:r>
          </a:p>
          <a:p>
            <a:pPr>
              <a:spcAft>
                <a:spcPts val="1800"/>
              </a:spcAft>
              <a:defRPr sz="2000"/>
            </a:pPr>
            <a:r>
              <a:t>Écart ajusté descriptif : 3.59 %, erreurs robustes HC3.</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Salaires etp</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pic>
        <p:nvPicPr>
          <p:cNvPr id="5" name="Picture 4" descr="salaires_etp.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Ecarts brut ajuste</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pic>
        <p:nvPicPr>
          <p:cNvPr id="5" name="Picture 4" descr="ecarts_brut_ajuste.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Rendre les rémunérations comparables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salaire versé correspond au temps contractuel. Une personne à 50 % et une personne à temps plein ne sont pas directement comparables sur ce montant annuel. Le salaire ETP est défini par salaire_annuel_verse / quotite ; une quotité nulle ou hors intervalle rend le calcul invalide.</a:t>
            </a:r>
          </a:p>
          <a:p>
            <a:pPr>
              <a:spcAft>
                <a:spcPts val="1800"/>
              </a:spcAft>
              <a:defRPr sz="2000"/>
            </a:pPr>
            <a:r>
              <a:t>L’écart calculé directement sur le salaire versé vaut 4,55 % ; après normalisation ETP, il vaut 4,13 %. Cette différence illustre l’importance de la définition, sans fournir une explication causale de la répartition des temps partiels.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Lire l’écart brut et son incertitude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L’écart retenu est 1 − moyenne_F / moyenne_H, avec H comme référence au dénominateur. Il vaut 4,13 %. Une valeur positive signifie une moyenne F inférieure dans cette convention ; inverser le dénominateur ne produit pas le même pourcentage en valeur absolue.</a:t>
            </a:r>
          </a:p>
          <a:p>
            <a:pPr>
              <a:spcAft>
                <a:spcPts val="1800"/>
              </a:spcAft>
              <a:defRPr sz="2000"/>
            </a:pPr>
            <a:r>
              <a:t>Le bootstrap rééchantillonne séparément les deux groupes 500 fois. Les quantiles 2,5 % et 97,5 % donnent [3,07 % ; 5,19 %]. Cet intervalle décrit la variabilité de cette procédure sur la simulation, pas l’ensemble des erreurs de mesure ou de sélection d’un cas réel.</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Comparer standardisation et régression ajustée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Une standardisation simple applique à chaque groupe les mêmes poids de niveaux, ceux de la population totale. L’écart obtenu est 3,64 %. Il contrôle uniquement la composition des niveaux ; il ne remplace pas un ajustement sur toutes les caractéristiques observées.</a:t>
            </a:r>
          </a:p>
          <a:p>
            <a:pPr>
              <a:spcAft>
                <a:spcPts val="1800"/>
              </a:spcAft>
              <a:defRPr sz="2000"/>
            </a:pPr>
            <a:r>
              <a:t>La régression utilise log(salaire_etp) avec sexe, niveau, métier, site, ancienneté et âge. Les catégories sont encodées avec une référence et les erreurs-types sont robustes HC3. La comparaison ajustée est une association conditionnelle au modèle spécifié, sans mécanisme causal identifié.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Diffuser des agrégats sans surestimer la protection</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Les croisements site × métier × niveau × sexe produisent 165 cellules ; 5 sont sous dix salariés et n’affichent ni effectif ni rémunération. Les mesures correspondantes restent non observées dans l’export public, plutôt que remplacées par zéro.</a:t>
            </a:r>
          </a:p>
          <a:p>
            <a:pPr>
              <a:spcAft>
                <a:spcPts val="1800"/>
              </a:spcAft>
              <a:defRPr sz="2000"/>
            </a:pPr>
            <a:r>
              <a:t>Masquer une seule petite cellule peut être insuffisant si un total de ligne ou une autre vue permet de la retrouver par soustraction. Une stratégie réelle demanderait des contrôles de complémentarité entre tableaux et, selon le contexte, une suppression secondaire ou une agrégation plus large.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Décider des vérifications complémentaires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bon usage des résultats est de définir un audit complémentaire : vérifier la comparabilité des fonctions, analyser les trajectoires d’accès aux niveaux, intégrer les composantes de rémunération et documenter le périmètre temporel.</a:t>
            </a:r>
          </a:p>
          <a:p>
            <a:pPr>
              <a:spcAft>
                <a:spcPts val="1800"/>
              </a:spcAft>
              <a:defRPr sz="2000"/>
            </a:pPr>
            <a:r>
              <a:t>Aucune action individuelle n’est recommandée à partir d’un coefficient global. Il faut distinguer une différence moyenne observée d’une situation individuelle, puis vérifier les données et les règles de comparaison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Examiner les distributions par métier et niveau avant interprétation.</a:t>
            </a:r>
          </a:p>
          <a:p>
            <a:pPr>
              <a:spcAft>
                <a:spcPts val="1800"/>
              </a:spcAft>
              <a:defRPr sz="2000"/>
            </a:pPr>
            <a:r>
              <a:t>Appliquer contrôle d’accès et diffusion agrégée sur de vraies données.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Données fictives ; catégories de sexe simplifiées.</a:t>
            </a:r>
          </a:p>
          <a:p>
            <a:pPr>
              <a:spcAft>
                <a:spcPts val="1800"/>
              </a:spcAft>
              <a:defRPr sz="2000"/>
            </a:pPr>
            <a:r>
              <a:t>Ce diagnostic n’est ni l’index légal français ni une preuve de discrimination.</a:t>
            </a:r>
          </a:p>
          <a:p>
            <a:pPr>
              <a:spcAft>
                <a:spcPts val="1800"/>
              </a:spcAft>
              <a:defRPr sz="2000"/>
            </a:pPr>
            <a:r>
              <a:t>Pseudonymisation et seuil de 10 ne garantissent pas anonymisation ou conformité RGPD ; données individuelles publiables ici uniquement car synthétiques.</a:t>
            </a:r>
          </a:p>
          <a:p>
            <a:pPr>
              <a:spcAft>
                <a:spcPts val="1800"/>
              </a:spcAft>
              <a:defRPr sz="2000"/>
            </a:pPr>
            <a:r>
              <a:t>Workflow KNIME à reconstruire ; référence exécutée en Python.</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EquiTech-RH</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